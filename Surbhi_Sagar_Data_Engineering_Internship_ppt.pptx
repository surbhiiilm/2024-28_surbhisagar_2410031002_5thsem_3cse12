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417320"/>
            <a:ext cx="3840480" cy="3840480"/>
          </a:xfrm>
          <a:prstGeom prst="ellipse">
            <a:avLst/>
          </a:prstGeom>
          <a:solidFill>
            <a:srgbClr val="24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011680" cy="2011680"/>
          </a:xfrm>
          <a:prstGeom prst="ellipse">
            <a:avLst/>
          </a:prstGeom>
          <a:solidFill>
            <a:srgbClr val="32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486400"/>
            <a:ext cx="2560320" cy="2560320"/>
          </a:xfrm>
          <a:prstGeom prst="ellipse">
            <a:avLst/>
          </a:prstGeom>
          <a:solidFill>
            <a:srgbClr val="24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84124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48640"/>
            <a:ext cx="658368" cy="701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6217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E7ECF7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932688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A8B6D6"/>
                </a:solidFill>
                <a:latin typeface="Aptos"/>
              </a:defRPr>
            </a:pPr>
            <a:r>
              <a:t>School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04872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DATA ENGINEERING</a:t>
            </a:r>
            <a:br/>
            <a:r>
              <a:t>VIRTUAL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0156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5970F"/>
                </a:solidFill>
                <a:latin typeface="Aptos"/>
              </a:defRPr>
            </a:pPr>
            <a:r>
              <a:t>AICTE – EduSkills National Internship Program  |  Curriculum by AWS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096512"/>
            <a:ext cx="10561320" cy="1325880"/>
          </a:xfrm>
          <a:prstGeom prst="roundRect">
            <a:avLst/>
          </a:prstGeom>
          <a:solidFill>
            <a:srgbClr val="243A6F"/>
          </a:solidFill>
          <a:ln w="10160">
            <a:solidFill>
              <a:srgbClr val="243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708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A6B5D6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45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Surbhi Sagar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708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A6B5D6"/>
                </a:solidFill>
                <a:latin typeface="Aptos"/>
              </a:defRPr>
            </a:pPr>
            <a:r>
              <a:t>ENROLLMENT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45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2410031002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708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A6B5D6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645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B.Tech CSE, 5th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A6B5D6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EduSkills (AICTE National Internship Program)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Internship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2651760" cy="1755648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892807"/>
            <a:ext cx="24323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514600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D9E1F4"/>
                </a:solidFill>
                <a:latin typeface="Aptos"/>
              </a:defRPr>
            </a:pPr>
            <a:r>
              <a:t>Weeks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871215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AAB8D7"/>
                </a:solidFill>
                <a:latin typeface="Aptos"/>
              </a:defRPr>
            </a:pPr>
            <a:r>
              <a:t>June – August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72768"/>
            <a:ext cx="2651760" cy="1755648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92807"/>
            <a:ext cx="24323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514600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D9E1F4"/>
                </a:solidFill>
                <a:latin typeface="Aptos"/>
              </a:defRPr>
            </a:pPr>
            <a:r>
              <a:t>Training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871215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AAB8D7"/>
                </a:solidFill>
                <a:latin typeface="Aptos"/>
              </a:defRPr>
            </a:pPr>
            <a:r>
              <a:t>AWS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572768"/>
            <a:ext cx="2651760" cy="1755648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7"/>
            <a:ext cx="24323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D9E1F4"/>
                </a:solidFill>
                <a:latin typeface="Aptos"/>
              </a:defRPr>
            </a:pPr>
            <a:r>
              <a:t>Internship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71215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AAB8D7"/>
                </a:solidFill>
                <a:latin typeface="Aptos"/>
              </a:defRPr>
            </a:pPr>
            <a:r>
              <a:t>June – August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0303" y="1572768"/>
            <a:ext cx="2651760" cy="1755648"/>
          </a:xfrm>
          <a:prstGeom prst="roundRect">
            <a:avLst/>
          </a:prstGeom>
          <a:solidFill>
            <a:srgbClr val="F5970F"/>
          </a:solidFill>
          <a:ln w="10160">
            <a:solidFill>
              <a:srgbClr val="F59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1" y="1892807"/>
            <a:ext cx="24323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1" y="2514600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Final 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1" y="2871215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FFFFFF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49039"/>
            <a:ext cx="11064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87368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105655"/>
            <a:ext cx="47548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050791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5B6780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3159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Data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62686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Data pipelines, processing and cloud workflows</a:t>
            </a:r>
          </a:p>
        </p:txBody>
      </p:sp>
      <p:sp>
        <p:nvSpPr>
          <p:cNvPr id="26" name="Oval 25"/>
          <p:cNvSpPr/>
          <p:nvPr/>
        </p:nvSpPr>
        <p:spPr>
          <a:xfrm>
            <a:off x="4553712" y="4087368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105655"/>
            <a:ext cx="47548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4050791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5B6780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43159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Virtual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462686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Structured online learning experience</a:t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4087368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4105655"/>
            <a:ext cx="47548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4050791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5B6780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43159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AICTE + AWS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462686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Internship certificate and training badge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57607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0" i="0">
                <a:solidFill>
                  <a:srgbClr val="5B6780"/>
                </a:solidFill>
                <a:latin typeface="Aptos"/>
              </a:defRPr>
            </a:pPr>
            <a:r>
              <a:t>A structured eight-week experience focused on building a foundation in modern data engineering.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PROGRAM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Who Powered the Internship?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75688"/>
            <a:ext cx="402336" cy="402336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9403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57400"/>
            <a:ext cx="1463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AICTE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404872"/>
            <a:ext cx="1463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Technical education</a:t>
            </a:r>
            <a:br/>
            <a:r>
              <a:t>framework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441448"/>
            <a:ext cx="777239" cy="0"/>
          </a:xfrm>
          <a:prstGeom prst="line">
            <a:avLst/>
          </a:prstGeom>
          <a:ln w="25400">
            <a:solidFill>
              <a:srgbClr val="F597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4679" y="2258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19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075688"/>
            <a:ext cx="402336" cy="402336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89403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057400"/>
            <a:ext cx="1463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EduSkills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404872"/>
            <a:ext cx="1463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Virtual internship</a:t>
            </a:r>
            <a:br/>
            <a:r>
              <a:t>platform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9" y="2441448"/>
            <a:ext cx="777240" cy="0"/>
          </a:xfrm>
          <a:prstGeom prst="line">
            <a:avLst/>
          </a:prstGeom>
          <a:ln w="25400">
            <a:solidFill>
              <a:srgbClr val="F597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06440" y="2258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874519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72200" y="2075688"/>
            <a:ext cx="402336" cy="402336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89403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057400"/>
            <a:ext cx="1463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National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2404872"/>
            <a:ext cx="1463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Industry–academia</a:t>
            </a:r>
            <a:br/>
            <a:r>
              <a:t>bridge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0" y="2441448"/>
            <a:ext cx="777240" cy="0"/>
          </a:xfrm>
          <a:prstGeom prst="line">
            <a:avLst/>
          </a:prstGeom>
          <a:ln w="25400">
            <a:solidFill>
              <a:srgbClr val="F597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58200" y="2258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874519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23959" y="2075688"/>
            <a:ext cx="402336" cy="402336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59" y="2089403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1" y="2057400"/>
            <a:ext cx="1463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AWS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1" y="2404872"/>
            <a:ext cx="1463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Cloud &amp; data</a:t>
            </a:r>
            <a:br/>
            <a:r>
              <a:t>curriculum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584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THE LEARNING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977639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192752"/>
                </a:solidFill>
                <a:latin typeface="Georgia"/>
              </a:defRPr>
            </a:pPr>
            <a:r>
              <a:t>AICTE enables the program → EduSkills delivers the internship → AWS Academy provides the Data Engineering curriculum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645152"/>
            <a:ext cx="342900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1832" y="4864608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488289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48554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Academic 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0472" y="5221224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AICTE supports technical education and accreditation.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4645152"/>
            <a:ext cx="342900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99432" y="4864608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488289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8072" y="48554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Internship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5221224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EduSkills connects students with structured virtual internships.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1" y="4645152"/>
            <a:ext cx="342900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57031" y="4864608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4882896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48554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Technical Curriculum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5672" y="5221224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AWS Academy provides the Data Engineering training.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8-Week Internship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0" i="1">
                <a:solidFill>
                  <a:srgbClr val="5B6780"/>
                </a:solidFill>
                <a:latin typeface="Aptos"/>
              </a:defRPr>
            </a:pPr>
            <a:r>
              <a:t>Conceptual learning journey — organized for presentation; exact weekly curriculum is maintained by the training provider.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2331720"/>
            <a:ext cx="9966960" cy="0"/>
          </a:xfrm>
          <a:prstGeom prst="line">
            <a:avLst/>
          </a:prstGeom>
          <a:ln w="317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68680" y="1938528"/>
            <a:ext cx="786384" cy="786384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7863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970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852928"/>
            <a:ext cx="24231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Georgia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0" i="0">
                <a:solidFill>
                  <a:srgbClr val="5B6780"/>
                </a:solidFill>
                <a:latin typeface="Aptos"/>
              </a:defRPr>
            </a:pPr>
            <a:r>
              <a:t>Data engineering basics</a:t>
            </a:r>
            <a:br/>
            <a:r>
              <a:t>Cloud fundamentals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1938528"/>
            <a:ext cx="786384" cy="786384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084831"/>
            <a:ext cx="7863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970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852928"/>
            <a:ext cx="24231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Weeks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649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Georgia"/>
              </a:defRPr>
            </a:pPr>
            <a:r>
              <a:t>CORE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04164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0" i="0">
                <a:solidFill>
                  <a:srgbClr val="5B6780"/>
                </a:solidFill>
                <a:latin typeface="Aptos"/>
              </a:defRPr>
            </a:pPr>
            <a:r>
              <a:t>Ingestion • ETL / ELT</a:t>
            </a:r>
            <a:br/>
            <a:r>
              <a:t>Data processing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1938528"/>
            <a:ext cx="786384" cy="786384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1"/>
            <a:ext cx="7863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970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852928"/>
            <a:ext cx="24231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Weeks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649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Georgia"/>
              </a:defRPr>
            </a:pPr>
            <a:r>
              <a:t>CLOUD &amp;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4164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0" i="0">
                <a:solidFill>
                  <a:srgbClr val="5B6780"/>
                </a:solidFill>
                <a:latin typeface="Aptos"/>
              </a:defRPr>
            </a:pPr>
            <a:r>
              <a:t>AWS-oriented learning</a:t>
            </a:r>
            <a:br/>
            <a:r>
              <a:t>Pipeline thinking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1938528"/>
            <a:ext cx="786384" cy="786384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084831"/>
            <a:ext cx="7863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970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88552" y="2852928"/>
            <a:ext cx="24231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970F"/>
                </a:solidFill>
                <a:latin typeface="Aptos"/>
              </a:defRPr>
            </a:pPr>
            <a:r>
              <a:t>Weeks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3649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Georgia"/>
              </a:defRPr>
            </a:pPr>
            <a:r>
              <a:t>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04164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0" i="0">
                <a:solidFill>
                  <a:srgbClr val="5B6780"/>
                </a:solidFill>
                <a:latin typeface="Aptos"/>
              </a:defRPr>
            </a:pPr>
            <a:r>
              <a:t>Quality • governance</a:t>
            </a:r>
            <a:br/>
            <a:r>
              <a:t>Completion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0574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Understanding Data Engineering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938528"/>
            <a:ext cx="658368" cy="65836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5970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614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Data</a:t>
            </a:r>
            <a:br/>
            <a:r>
              <a:t>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432" y="2075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10128" y="1938528"/>
            <a:ext cx="658368" cy="65836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5970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7614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127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Collect &amp;</a:t>
            </a:r>
            <a:br/>
            <a:r>
              <a:t>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614416" y="1938528"/>
            <a:ext cx="658368" cy="65836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5970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7614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3127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Organize</a:t>
            </a:r>
            <a:br/>
            <a:r>
              <a:t>&amp;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75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918704" y="1938528"/>
            <a:ext cx="658368" cy="65836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5970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7614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4" y="3127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Clean &amp;</a:t>
            </a:r>
            <a:br/>
            <a:r>
              <a:t>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075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222992" y="1938528"/>
            <a:ext cx="658368" cy="65836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2992" y="2084831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5970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7614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31272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Analytics /</a:t>
            </a:r>
            <a:br/>
            <a:r>
              <a:t>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77639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6968" y="4197096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215383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41879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ETL / ELT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7" y="4553712"/>
            <a:ext cx="425196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Prepare raw data for analysis.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977639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19088" y="4197096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15383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7" y="41879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7" y="4553712"/>
            <a:ext cx="425196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Accuracy, completeness and consistency.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9204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68" y="5111496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129783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35607" y="51023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PIPELINES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5607" y="5468112"/>
            <a:ext cx="425196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Automate repeatable data movement.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0488" y="4892040"/>
            <a:ext cx="5257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19088" y="5111496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5129783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7" y="510235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CLOUD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7" y="5468112"/>
            <a:ext cx="425196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Scale processing with cloud platforms.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TECHNICAL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From Raw Data to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73152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END-TO-END DATA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194560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942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20370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03703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Files • APIs • Databases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33856" y="2542032"/>
            <a:ext cx="0" cy="219456"/>
          </a:xfrm>
          <a:prstGeom prst="line">
            <a:avLst/>
          </a:prstGeom>
          <a:ln w="190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0120" y="2761488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706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70632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Capture and move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33856" y="3108960"/>
            <a:ext cx="0" cy="219456"/>
          </a:xfrm>
          <a:prstGeom prst="line">
            <a:avLst/>
          </a:prstGeom>
          <a:ln w="190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60120" y="3328415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79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3755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37559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Centralize raw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33856" y="3675887"/>
            <a:ext cx="0" cy="219457"/>
          </a:xfrm>
          <a:prstGeom prst="line">
            <a:avLst/>
          </a:prstGeom>
          <a:ln w="190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60120" y="3895344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50207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0448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04487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Clean and reshape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33856" y="4242816"/>
            <a:ext cx="0" cy="219456"/>
          </a:xfrm>
          <a:prstGeom prst="line">
            <a:avLst/>
          </a:prstGeom>
          <a:ln w="190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0120" y="4462272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1713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471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471416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Check data quality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33856" y="4809744"/>
            <a:ext cx="0" cy="219456"/>
          </a:xfrm>
          <a:prstGeom prst="line">
            <a:avLst/>
          </a:prstGeom>
          <a:ln w="1905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60120" y="5029200"/>
            <a:ext cx="347472" cy="347472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8406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F5970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503834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38344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0" i="0">
                <a:solidFill>
                  <a:srgbClr val="5B6780"/>
                </a:solidFill>
                <a:latin typeface="Aptos"/>
              </a:defRPr>
            </a:pPr>
            <a:r>
              <a:t>Serve useful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810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2331720"/>
            <a:ext cx="457200" cy="45720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350008"/>
            <a:ext cx="457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3134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92752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263347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0" b="0" i="0">
                <a:solidFill>
                  <a:srgbClr val="5B6780"/>
                </a:solidFill>
                <a:latin typeface="Aptos"/>
              </a:defRPr>
            </a:pPr>
            <a:r>
              <a:t>Repeatable workflows reduce manual effort.</a:t>
            </a:r>
          </a:p>
        </p:txBody>
      </p:sp>
      <p:sp>
        <p:nvSpPr>
          <p:cNvPr id="40" name="Oval 39"/>
          <p:cNvSpPr/>
          <p:nvPr/>
        </p:nvSpPr>
        <p:spPr>
          <a:xfrm>
            <a:off x="8366760" y="3410711"/>
            <a:ext cx="457200" cy="45720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3428999"/>
            <a:ext cx="457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3392423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92752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712463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0" b="0" i="0">
                <a:solidFill>
                  <a:srgbClr val="5B6780"/>
                </a:solidFill>
                <a:latin typeface="Aptos"/>
              </a:defRPr>
            </a:pPr>
            <a:r>
              <a:t>Cloud pipelines can grow with data volume.</a:t>
            </a:r>
          </a:p>
        </p:txBody>
      </p:sp>
      <p:sp>
        <p:nvSpPr>
          <p:cNvPr id="44" name="Oval 43"/>
          <p:cNvSpPr/>
          <p:nvPr/>
        </p:nvSpPr>
        <p:spPr>
          <a:xfrm>
            <a:off x="8366760" y="4489704"/>
            <a:ext cx="457200" cy="45720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4507992"/>
            <a:ext cx="457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34272" y="447141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92752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479145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0" b="0" i="0">
                <a:solidFill>
                  <a:srgbClr val="5B6780"/>
                </a:solidFill>
                <a:latin typeface="Aptos"/>
              </a:defRPr>
            </a:pPr>
            <a:r>
              <a:t>Validation and monitoring improve trust.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CLOUD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Georgia"/>
              </a:defRPr>
            </a:pPr>
            <a:r>
              <a:t>AWS &amp;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0" b="0" i="0">
                <a:solidFill>
                  <a:srgbClr val="BBC6DD"/>
                </a:solidFill>
                <a:latin typeface="Aptos"/>
              </a:defRPr>
            </a:pPr>
            <a:r>
              <a:t>AWS Academy is identified on the certificate as the curriculum provider for the Data Engineering internship.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6720840" cy="3611880"/>
          </a:xfrm>
          <a:prstGeom prst="roundRect">
            <a:avLst/>
          </a:prstGeom>
          <a:solidFill>
            <a:srgbClr val="243A6F"/>
          </a:solidFill>
          <a:ln w="10160">
            <a:solidFill>
              <a:srgbClr val="243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48840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CLOUD DATA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78608"/>
            <a:ext cx="598932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7919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192752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79191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Files • databases •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3008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36976"/>
            <a:ext cx="598932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337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192752"/>
                </a:solidFill>
                <a:latin typeface="Aptos"/>
              </a:defRPr>
            </a:pPr>
            <a:r>
              <a:t>DATA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33756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Cloud-based storage &amp;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366674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95344"/>
            <a:ext cx="598932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995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192752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995928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Transform • prepare •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43251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553712"/>
            <a:ext cx="598932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65429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192752"/>
                </a:solidFill>
                <a:latin typeface="Aptos"/>
              </a:defRPr>
            </a:pPr>
            <a:r>
              <a:t>DATA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654296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Analytics •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02996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LEARNING AREAS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2450592"/>
            <a:ext cx="393192" cy="393192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468880"/>
            <a:ext cx="393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441448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Cloud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70662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BCC8DF"/>
                </a:solidFill>
                <a:latin typeface="Aptos"/>
              </a:defRPr>
            </a:pPr>
            <a:r>
              <a:t>Understanding cloud-based computing concepts.</a:t>
            </a:r>
          </a:p>
        </p:txBody>
      </p:sp>
      <p:sp>
        <p:nvSpPr>
          <p:cNvPr id="27" name="Oval 26"/>
          <p:cNvSpPr/>
          <p:nvPr/>
        </p:nvSpPr>
        <p:spPr>
          <a:xfrm>
            <a:off x="7909560" y="3200400"/>
            <a:ext cx="393192" cy="393192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218688"/>
            <a:ext cx="393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1912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Data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5643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BCC8DF"/>
                </a:solidFill>
                <a:latin typeface="Aptos"/>
              </a:defRPr>
            </a:pPr>
            <a:r>
              <a:t>Exposure to cloud approaches for data solutions.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3950208"/>
            <a:ext cx="393192" cy="393192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3968496"/>
            <a:ext cx="393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941064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Scalable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2062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BCC8DF"/>
                </a:solidFill>
                <a:latin typeface="Aptos"/>
              </a:defRPr>
            </a:pPr>
            <a:r>
              <a:t>Thinking about data workflows at scale.</a:t>
            </a:r>
          </a:p>
        </p:txBody>
      </p:sp>
      <p:sp>
        <p:nvSpPr>
          <p:cNvPr id="35" name="Oval 34"/>
          <p:cNvSpPr/>
          <p:nvPr/>
        </p:nvSpPr>
        <p:spPr>
          <a:xfrm>
            <a:off x="7909560" y="4700016"/>
            <a:ext cx="393192" cy="393192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471830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 i="0">
                <a:solidFill>
                  <a:srgbClr val="19275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69087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Hands-on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9560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BCC8DF"/>
                </a:solidFill>
                <a:latin typeface="Aptos"/>
              </a:defRPr>
            </a:pPr>
            <a:r>
              <a:t>Applying concepts in a cloud environment.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AFB9C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Skills &amp; 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1810512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9280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01368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DATA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6712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Understand how data moves through stages.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0288" y="1810512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801368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ETL / 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16712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Prepare and transform raw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810512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1801368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216712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Work with structured processing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644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3474720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57016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46557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CLOUD COMPUTING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3133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Build awareness of cloud data architecture.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644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0288" y="3474720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57016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346557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383133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Focus on accuracy and consistency.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32644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3474720"/>
            <a:ext cx="475488" cy="47548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557016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80" b="1" i="0">
                <a:solidFill>
                  <a:srgbClr val="F5970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4" y="346557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192752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383133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Approach workflow challenges systematically.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74519" y="5321808"/>
            <a:ext cx="8412481" cy="0"/>
          </a:xfrm>
          <a:prstGeom prst="line">
            <a:avLst/>
          </a:prstGeom>
          <a:ln w="2540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51560" y="5029200"/>
            <a:ext cx="566928" cy="566928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15721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0109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52852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0" y="5029200"/>
            <a:ext cx="566928" cy="566928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15721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0109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2852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43" name="Oval 42"/>
          <p:cNvSpPr/>
          <p:nvPr/>
        </p:nvSpPr>
        <p:spPr>
          <a:xfrm>
            <a:off x="8092440" y="5029200"/>
            <a:ext cx="566928" cy="566928"/>
          </a:xfrm>
          <a:prstGeom prst="ellipse">
            <a:avLst/>
          </a:prstGeom>
          <a:solidFill>
            <a:srgbClr val="F59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15721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927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50109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2852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Data Engineering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572768"/>
            <a:ext cx="7863840" cy="512064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28519" y="1655064"/>
            <a:ext cx="267370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7633" y="1655064"/>
            <a:ext cx="48755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FFFFFF"/>
                </a:solidFill>
                <a:latin typeface="Aptos"/>
              </a:defRPr>
            </a:pPr>
            <a:r>
              <a:t>Files  |  APIs  | 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204825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8247" y="2286000"/>
            <a:ext cx="7315200" cy="512064"/>
          </a:xfrm>
          <a:prstGeom prst="roundRect">
            <a:avLst/>
          </a:prstGeom>
          <a:solidFill>
            <a:srgbClr val="243A6F"/>
          </a:solidFill>
          <a:ln w="10160">
            <a:solidFill>
              <a:srgbClr val="243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2839" y="236829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INGESTION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5415" y="2368296"/>
            <a:ext cx="4535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FFFFFF"/>
                </a:solidFill>
                <a:latin typeface="Aptos"/>
              </a:defRPr>
            </a:pPr>
            <a:r>
              <a:t>Collect  |  Move  | 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76148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2567" y="2999232"/>
            <a:ext cx="6766560" cy="512064"/>
          </a:xfrm>
          <a:prstGeom prst="roundRect">
            <a:avLst/>
          </a:prstGeom>
          <a:solidFill>
            <a:srgbClr val="324982"/>
          </a:solidFill>
          <a:ln w="10160">
            <a:solidFill>
              <a:srgbClr val="324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7159" y="3081528"/>
            <a:ext cx="23006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STORAGE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198" y="3081528"/>
            <a:ext cx="41952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FFFFFF"/>
                </a:solidFill>
                <a:latin typeface="Aptos"/>
              </a:defRPr>
            </a:pPr>
            <a:r>
              <a:t>Organize  |  Retain  | 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74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6887" y="3712463"/>
            <a:ext cx="6217920" cy="512064"/>
          </a:xfrm>
          <a:prstGeom prst="roundRect">
            <a:avLst/>
          </a:prstGeom>
          <a:solidFill>
            <a:srgbClr val="F5970F"/>
          </a:solidFill>
          <a:ln w="10160">
            <a:solidFill>
              <a:srgbClr val="F59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1479" y="3794759"/>
            <a:ext cx="21140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PROCESSING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0980" y="3794759"/>
            <a:ext cx="38551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192752"/>
                </a:solidFill>
                <a:latin typeface="Aptos"/>
              </a:defRPr>
            </a:pPr>
            <a:r>
              <a:t>Clean  |  Transform  |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87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1207" y="4425696"/>
            <a:ext cx="5669280" cy="512064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5799" y="4507992"/>
            <a:ext cx="19275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OUTPUT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8762" y="4507992"/>
            <a:ext cx="351495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FFFFFF"/>
                </a:solidFill>
                <a:latin typeface="Aptos"/>
              </a:defRPr>
            </a:pPr>
            <a:r>
              <a:t>Analytics  |  Applications  | 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7190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F5970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44622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F5970F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55046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5B6780"/>
                </a:solidFill>
                <a:latin typeface="Aptos"/>
              </a:defRPr>
            </a:pPr>
            <a:r>
              <a:t>A simple architecture view: data is collected, stored, processed and validated before it becomes useful to analytics or applications.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Certificates &amp; Credentials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544068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1072" y="1481328"/>
            <a:ext cx="5239512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92752"/>
                </a:solidFill>
                <a:latin typeface="Aptos"/>
              </a:defRPr>
            </a:pPr>
            <a:r>
              <a:t>AICTE – EduSkills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8816" y="17190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92752"/>
                </a:solidFill>
                <a:latin typeface="Aptos"/>
              </a:defRPr>
            </a:pPr>
            <a:r>
              <a:t>AWS Academy Training Badge</a:t>
            </a:r>
          </a:p>
        </p:txBody>
      </p:sp>
      <p:pic>
        <p:nvPicPr>
          <p:cNvPr id="8" name="Picture 7" descr="10001886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993392"/>
            <a:ext cx="2267712" cy="3200400"/>
          </a:xfrm>
          <a:prstGeom prst="rect">
            <a:avLst/>
          </a:prstGeom>
        </p:spPr>
      </p:pic>
      <p:pic>
        <p:nvPicPr>
          <p:cNvPr id="9" name="Picture 8" descr="10001886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075688"/>
            <a:ext cx="4133087" cy="31912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5486400"/>
            <a:ext cx="10881360" cy="658368"/>
          </a:xfrm>
          <a:prstGeom prst="roundRect">
            <a:avLst/>
          </a:prstGeom>
          <a:solidFill>
            <a:srgbClr val="192752"/>
          </a:solidFill>
          <a:ln w="10160">
            <a:solidFill>
              <a:srgbClr val="192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59612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6144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59612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Georgia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6144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59612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 i="0">
                <a:solidFill>
                  <a:srgbClr val="F5970F"/>
                </a:solidFill>
                <a:latin typeface="Georgia"/>
              </a:defRPr>
            </a:pPr>
            <a: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6144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F5970F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92752"/>
                </a:solidFill>
                <a:latin typeface="Georgia"/>
              </a:defRPr>
            </a:pPr>
            <a:r>
              <a:t>Key Takeaways &amp; Future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5B6780"/>
                </a:solidFill>
                <a:latin typeface="Aptos"/>
              </a:defRPr>
            </a:pPr>
            <a:r>
              <a:t>What this internship adds to my learning journey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993392"/>
            <a:ext cx="566928" cy="56692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3055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16736" y="2276856"/>
            <a:ext cx="2221991" cy="0"/>
          </a:xfrm>
          <a:prstGeom prst="line">
            <a:avLst/>
          </a:prstGeom>
          <a:ln w="2540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47088" y="2057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" y="27614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" y="30906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8-week structured experience</a:t>
            </a:r>
          </a:p>
        </p:txBody>
      </p:sp>
      <p:sp>
        <p:nvSpPr>
          <p:cNvPr id="11" name="Oval 10"/>
          <p:cNvSpPr/>
          <p:nvPr/>
        </p:nvSpPr>
        <p:spPr>
          <a:xfrm>
            <a:off x="3538727" y="1993392"/>
            <a:ext cx="566928" cy="56692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7" y="213055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5655" y="2276856"/>
            <a:ext cx="2221993" cy="0"/>
          </a:xfrm>
          <a:prstGeom prst="line">
            <a:avLst/>
          </a:prstGeom>
          <a:ln w="2540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36007" y="2057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7614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0906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Data engineering concepts</a:t>
            </a:r>
          </a:p>
        </p:txBody>
      </p:sp>
      <p:sp>
        <p:nvSpPr>
          <p:cNvPr id="17" name="Oval 16"/>
          <p:cNvSpPr/>
          <p:nvPr/>
        </p:nvSpPr>
        <p:spPr>
          <a:xfrm>
            <a:off x="6327648" y="1993392"/>
            <a:ext cx="566928" cy="56692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13055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94576" y="2276856"/>
            <a:ext cx="2221991" cy="0"/>
          </a:xfrm>
          <a:prstGeom prst="line">
            <a:avLst/>
          </a:prstGeom>
          <a:ln w="25400">
            <a:solidFill>
              <a:srgbClr val="DC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24927" y="2057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F597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7614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0906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AWS-oriented exposure</a:t>
            </a:r>
          </a:p>
        </p:txBody>
      </p:sp>
      <p:sp>
        <p:nvSpPr>
          <p:cNvPr id="23" name="Oval 22"/>
          <p:cNvSpPr/>
          <p:nvPr/>
        </p:nvSpPr>
        <p:spPr>
          <a:xfrm>
            <a:off x="9116567" y="1993392"/>
            <a:ext cx="566928" cy="566928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213055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7" y="27614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192752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7" y="30906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80" b="0" i="0">
                <a:solidFill>
                  <a:srgbClr val="5B6780"/>
                </a:solidFill>
                <a:latin typeface="Aptos"/>
              </a:defRPr>
            </a:pPr>
            <a:r>
              <a:t>Further projects &amp;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77639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5970F"/>
                </a:solidFill>
                <a:latin typeface="Aptos"/>
              </a:defRPr>
            </a:pPr>
            <a:r>
              <a:t>FUTURE FOCUS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15968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535424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53712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526280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Data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92040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Build more end-to-end pipeline projects.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315968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17720" y="4535424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553712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4526280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Cloud 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892040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Deepen AWS and cloud architecture knowledge.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315968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1040" y="4535424"/>
            <a:ext cx="411480" cy="411480"/>
          </a:xfrm>
          <a:prstGeom prst="ellipse">
            <a:avLst/>
          </a:prstGeom>
          <a:solidFill>
            <a:srgbClr val="19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553712"/>
            <a:ext cx="411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F5970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526280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 i="0">
                <a:solidFill>
                  <a:srgbClr val="19275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892040"/>
            <a:ext cx="23957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9" b="0" i="0">
                <a:solidFill>
                  <a:srgbClr val="5B6780"/>
                </a:solidFill>
                <a:latin typeface="Aptos"/>
              </a:defRPr>
            </a:pPr>
            <a:r>
              <a:t>Connect reliable data with useful insights.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5B67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3291840" cy="3291840"/>
          </a:xfrm>
          <a:prstGeom prst="ellipse">
            <a:avLst/>
          </a:prstGeom>
          <a:solidFill>
            <a:srgbClr val="24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623560"/>
            <a:ext cx="2286000" cy="2286000"/>
          </a:xfrm>
          <a:prstGeom prst="ellipse">
            <a:avLst/>
          </a:prstGeom>
          <a:solidFill>
            <a:srgbClr val="324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960120"/>
            <a:ext cx="868680" cy="926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176272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400" b="1" i="0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906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5970F"/>
                </a:solidFill>
                <a:latin typeface="Aptos"/>
              </a:defRPr>
            </a:pPr>
            <a:r>
              <a:t>Data Engineering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75887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Surbhi Sagar  •  2410031002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96512"/>
            <a:ext cx="850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BDC9E0"/>
                </a:solidFill>
                <a:latin typeface="Aptos"/>
              </a:defRPr>
            </a:pPr>
            <a:r>
              <a:t>B.Tech CSE, 5th Semester  •  IILM University, 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 i="0">
                <a:solidFill>
                  <a:srgbClr val="AFB9C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